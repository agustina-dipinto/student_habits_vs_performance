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Open Sans ExtraBold"/>
      <p:bold r:id="rId15"/>
      <p:boldItalic r:id="rId16"/>
    </p:embeddedFont>
    <p:embeddedFont>
      <p:font typeface="Open Sans Light"/>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Light-boldItalic.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OpenSans-regular.fntdata"/><Relationship Id="rId13" Type="http://schemas.openxmlformats.org/officeDocument/2006/relationships/slide" Target="slides/slide8.xml"/><Relationship Id="rId24" Type="http://schemas.openxmlformats.org/officeDocument/2006/relationships/font" Target="fonts/OpenSans-boldItalic.fntdata"/><Relationship Id="rId12" Type="http://schemas.openxmlformats.org/officeDocument/2006/relationships/slide" Target="slides/slide7.xml"/><Relationship Id="rId23"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penSansExtraBold-bold.fntdata"/><Relationship Id="rId14" Type="http://schemas.openxmlformats.org/officeDocument/2006/relationships/slide" Target="slides/slide9.xml"/><Relationship Id="rId17" Type="http://schemas.openxmlformats.org/officeDocument/2006/relationships/font" Target="fonts/OpenSansLight-regular.fntdata"/><Relationship Id="rId16" Type="http://schemas.openxmlformats.org/officeDocument/2006/relationships/font" Target="fonts/OpenSansExtraBold-boldItalic.fntdata"/><Relationship Id="rId5" Type="http://schemas.openxmlformats.org/officeDocument/2006/relationships/notesMaster" Target="notesMasters/notesMaster1.xml"/><Relationship Id="rId19" Type="http://schemas.openxmlformats.org/officeDocument/2006/relationships/font" Target="fonts/OpenSansLight-italic.fntdata"/><Relationship Id="rId6" Type="http://schemas.openxmlformats.org/officeDocument/2006/relationships/slide" Target="slides/slide1.xml"/><Relationship Id="rId18" Type="http://schemas.openxmlformats.org/officeDocument/2006/relationships/font" Target="fonts/OpenSansLigh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61fd49a947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61fd49a947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61fd49a94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61fd49a94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1fd49a94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1fd49a94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71790cee2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71790cee2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6d9295c0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6d9295c0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6d9295c0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66d9295c0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6d9295c0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66d9295c0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6d9295c0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6d9295c0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kaggle.com/datasets/jayaantanaath/student-habits-vs-academic-performance?select=student_habits_performance.csv"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36650" y="860425"/>
            <a:ext cx="8520600" cy="708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lang="es" sz="2711">
                <a:solidFill>
                  <a:schemeClr val="lt1"/>
                </a:solidFill>
                <a:latin typeface="Open Sans ExtraBold"/>
                <a:ea typeface="Open Sans ExtraBold"/>
                <a:cs typeface="Open Sans ExtraBold"/>
                <a:sym typeface="Open Sans ExtraBold"/>
              </a:rPr>
              <a:t>Hábitos vs. Rendimiento académico </a:t>
            </a:r>
            <a:endParaRPr sz="2711">
              <a:solidFill>
                <a:schemeClr val="lt1"/>
              </a:solidFill>
              <a:latin typeface="Open Sans ExtraBold"/>
              <a:ea typeface="Open Sans ExtraBold"/>
              <a:cs typeface="Open Sans ExtraBold"/>
              <a:sym typeface="Open Sans ExtraBold"/>
            </a:endParaRPr>
          </a:p>
        </p:txBody>
      </p:sp>
      <p:sp>
        <p:nvSpPr>
          <p:cNvPr id="55" name="Google Shape;55;p13"/>
          <p:cNvSpPr txBox="1"/>
          <p:nvPr>
            <p:ph idx="1" type="subTitle"/>
          </p:nvPr>
        </p:nvSpPr>
        <p:spPr>
          <a:xfrm>
            <a:off x="311700" y="1668700"/>
            <a:ext cx="8520600" cy="227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770"/>
              <a:buNone/>
            </a:pPr>
            <a:r>
              <a:rPr lang="es" sz="2700">
                <a:solidFill>
                  <a:schemeClr val="lt1"/>
                </a:solidFill>
                <a:latin typeface="Open Sans"/>
                <a:ea typeface="Open Sans"/>
                <a:cs typeface="Open Sans"/>
                <a:sym typeface="Open Sans"/>
              </a:rPr>
              <a:t>¿Qué impacto tienen los </a:t>
            </a:r>
            <a:endParaRPr sz="2700">
              <a:solidFill>
                <a:schemeClr val="lt1"/>
              </a:solidFill>
              <a:latin typeface="Open Sans"/>
              <a:ea typeface="Open Sans"/>
              <a:cs typeface="Open Sans"/>
              <a:sym typeface="Open Sans"/>
            </a:endParaRPr>
          </a:p>
          <a:p>
            <a:pPr indent="0" lvl="0" marL="0" rtl="0" algn="ctr">
              <a:spcBef>
                <a:spcPts val="0"/>
              </a:spcBef>
              <a:spcAft>
                <a:spcPts val="0"/>
              </a:spcAft>
              <a:buSzPts val="770"/>
              <a:buNone/>
            </a:pPr>
            <a:r>
              <a:rPr lang="es" sz="2700">
                <a:solidFill>
                  <a:schemeClr val="lt1"/>
                </a:solidFill>
                <a:latin typeface="Open Sans"/>
                <a:ea typeface="Open Sans"/>
                <a:cs typeface="Open Sans"/>
                <a:sym typeface="Open Sans"/>
              </a:rPr>
              <a:t>📖💪H</a:t>
            </a:r>
            <a:r>
              <a:rPr lang="es" sz="2700">
                <a:solidFill>
                  <a:schemeClr val="lt1"/>
                </a:solidFill>
                <a:latin typeface="Open Sans"/>
                <a:ea typeface="Open Sans"/>
                <a:cs typeface="Open Sans"/>
                <a:sym typeface="Open Sans"/>
              </a:rPr>
              <a:t>ábitos 🥬💤 en el</a:t>
            </a:r>
            <a:endParaRPr sz="2700">
              <a:solidFill>
                <a:schemeClr val="lt1"/>
              </a:solidFill>
              <a:latin typeface="Open Sans"/>
              <a:ea typeface="Open Sans"/>
              <a:cs typeface="Open Sans"/>
              <a:sym typeface="Open Sans"/>
            </a:endParaRPr>
          </a:p>
          <a:p>
            <a:pPr indent="0" lvl="0" marL="0" rtl="0" algn="ctr">
              <a:spcBef>
                <a:spcPts val="0"/>
              </a:spcBef>
              <a:spcAft>
                <a:spcPts val="0"/>
              </a:spcAft>
              <a:buSzPts val="770"/>
              <a:buNone/>
            </a:pPr>
            <a:r>
              <a:rPr lang="es" sz="2700">
                <a:solidFill>
                  <a:schemeClr val="lt1"/>
                </a:solidFill>
                <a:latin typeface="Open Sans"/>
                <a:ea typeface="Open Sans"/>
                <a:cs typeface="Open Sans"/>
                <a:sym typeface="Open Sans"/>
              </a:rPr>
              <a:t> </a:t>
            </a:r>
            <a:r>
              <a:rPr lang="es" sz="2700">
                <a:solidFill>
                  <a:schemeClr val="lt1"/>
                </a:solidFill>
                <a:latin typeface="Open Sans ExtraBold"/>
                <a:ea typeface="Open Sans ExtraBold"/>
                <a:cs typeface="Open Sans ExtraBold"/>
                <a:sym typeface="Open Sans ExtraBold"/>
              </a:rPr>
              <a:t>👩‍🎓</a:t>
            </a:r>
            <a:r>
              <a:rPr lang="es" sz="2700">
                <a:solidFill>
                  <a:schemeClr val="lt1"/>
                </a:solidFill>
                <a:latin typeface="Open Sans"/>
                <a:ea typeface="Open Sans"/>
                <a:cs typeface="Open Sans"/>
                <a:sym typeface="Open Sans"/>
              </a:rPr>
              <a:t>R</a:t>
            </a:r>
            <a:r>
              <a:rPr lang="es" sz="2700">
                <a:solidFill>
                  <a:schemeClr val="lt1"/>
                </a:solidFill>
                <a:latin typeface="Open Sans"/>
                <a:ea typeface="Open Sans"/>
                <a:cs typeface="Open Sans"/>
                <a:sym typeface="Open Sans"/>
              </a:rPr>
              <a:t>esultado Académico</a:t>
            </a:r>
            <a:r>
              <a:rPr lang="es" sz="2700">
                <a:solidFill>
                  <a:schemeClr val="lt1"/>
                </a:solidFill>
                <a:latin typeface="Open Sans ExtraBold"/>
                <a:ea typeface="Open Sans ExtraBold"/>
                <a:cs typeface="Open Sans ExtraBold"/>
                <a:sym typeface="Open Sans ExtraBold"/>
              </a:rPr>
              <a:t>👩‍🎓</a:t>
            </a:r>
            <a:r>
              <a:rPr lang="es" sz="2700">
                <a:solidFill>
                  <a:schemeClr val="lt1"/>
                </a:solidFill>
                <a:latin typeface="Open Sans"/>
                <a:ea typeface="Open Sans"/>
                <a:cs typeface="Open Sans"/>
                <a:sym typeface="Open Sans"/>
              </a:rPr>
              <a:t>?</a:t>
            </a:r>
            <a:endParaRPr sz="2700">
              <a:solidFill>
                <a:schemeClr val="lt1"/>
              </a:solidFill>
              <a:latin typeface="Open Sans"/>
              <a:ea typeface="Open Sans"/>
              <a:cs typeface="Open Sans"/>
              <a:sym typeface="Open Sans"/>
            </a:endParaRPr>
          </a:p>
        </p:txBody>
      </p:sp>
      <p:sp>
        <p:nvSpPr>
          <p:cNvPr id="56" name="Google Shape;56;p13"/>
          <p:cNvSpPr txBox="1"/>
          <p:nvPr/>
        </p:nvSpPr>
        <p:spPr>
          <a:xfrm>
            <a:off x="506825" y="4041775"/>
            <a:ext cx="4982400" cy="3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911">
                <a:solidFill>
                  <a:schemeClr val="lt1"/>
                </a:solidFill>
                <a:latin typeface="Open Sans ExtraBold"/>
                <a:ea typeface="Open Sans ExtraBold"/>
                <a:cs typeface="Open Sans ExtraBold"/>
                <a:sym typeface="Open Sans ExtraBold"/>
              </a:rPr>
              <a:t>AUTOR:</a:t>
            </a:r>
            <a:r>
              <a:rPr lang="es" sz="1911">
                <a:solidFill>
                  <a:schemeClr val="lt1"/>
                </a:solidFill>
                <a:latin typeface="Open Sans"/>
                <a:ea typeface="Open Sans"/>
                <a:cs typeface="Open Sans"/>
                <a:sym typeface="Open Sans"/>
              </a:rPr>
              <a:t> Agustina Di Pinto</a:t>
            </a:r>
            <a:endParaRPr sz="1911">
              <a:solidFill>
                <a:schemeClr val="lt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60" name="Shape 60"/>
        <p:cNvGrpSpPr/>
        <p:nvPr/>
      </p:nvGrpSpPr>
      <p:grpSpPr>
        <a:xfrm>
          <a:off x="0" y="0"/>
          <a:ext cx="0" cy="0"/>
          <a:chOff x="0" y="0"/>
          <a:chExt cx="0" cy="0"/>
        </a:xfrm>
      </p:grpSpPr>
      <p:pic>
        <p:nvPicPr>
          <p:cNvPr descr="Woman is studying financial business documents at her desk (proporcionado por Getty Images)" id="61" name="Google Shape;61;p14"/>
          <p:cNvPicPr preferRelativeResize="0"/>
          <p:nvPr/>
        </p:nvPicPr>
        <p:blipFill rotWithShape="1">
          <a:blip r:embed="rId3">
            <a:alphaModFix amt="30000"/>
          </a:blip>
          <a:srcRect b="0" l="0" r="0" t="0"/>
          <a:stretch/>
        </p:blipFill>
        <p:spPr>
          <a:xfrm>
            <a:off x="0" y="0"/>
            <a:ext cx="9144003" cy="5143499"/>
          </a:xfrm>
          <a:prstGeom prst="rect">
            <a:avLst/>
          </a:prstGeom>
          <a:noFill/>
          <a:ln>
            <a:noFill/>
          </a:ln>
        </p:spPr>
      </p:pic>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020">
                <a:solidFill>
                  <a:schemeClr val="lt1"/>
                </a:solidFill>
                <a:latin typeface="Open Sans ExtraBold"/>
                <a:ea typeface="Open Sans ExtraBold"/>
                <a:cs typeface="Open Sans ExtraBold"/>
                <a:sym typeface="Open Sans ExtraBold"/>
              </a:rPr>
              <a:t>Índice</a:t>
            </a:r>
            <a:endParaRPr sz="2020">
              <a:solidFill>
                <a:schemeClr val="lt1"/>
              </a:solidFill>
              <a:latin typeface="Open Sans ExtraBold"/>
              <a:ea typeface="Open Sans ExtraBold"/>
              <a:cs typeface="Open Sans ExtraBold"/>
              <a:sym typeface="Open Sans ExtraBold"/>
            </a:endParaRPr>
          </a:p>
        </p:txBody>
      </p:sp>
      <p:sp>
        <p:nvSpPr>
          <p:cNvPr id="63" name="Google Shape;63;p14"/>
          <p:cNvSpPr txBox="1"/>
          <p:nvPr>
            <p:ph idx="1" type="body"/>
          </p:nvPr>
        </p:nvSpPr>
        <p:spPr>
          <a:xfrm>
            <a:off x="311700" y="1152475"/>
            <a:ext cx="5129100" cy="2023200"/>
          </a:xfrm>
          <a:prstGeom prst="rect">
            <a:avLst/>
          </a:prstGeom>
        </p:spPr>
        <p:txBody>
          <a:bodyPr anchorCtr="0" anchor="t" bIns="91425" lIns="91425" spcFirstLastPara="1" rIns="91425" wrap="square" tIns="91425">
            <a:normAutofit/>
          </a:bodyPr>
          <a:lstStyle/>
          <a:p>
            <a:pPr indent="-330200" lvl="0" marL="457200" rtl="0" algn="l">
              <a:lnSpc>
                <a:spcPct val="140000"/>
              </a:lnSpc>
              <a:spcBef>
                <a:spcPts val="0"/>
              </a:spcBef>
              <a:spcAft>
                <a:spcPts val="0"/>
              </a:spcAft>
              <a:buClr>
                <a:schemeClr val="lt1"/>
              </a:buClr>
              <a:buSzPts val="1600"/>
              <a:buFont typeface="Open Sans Light"/>
              <a:buAutoNum type="arabicPeriod"/>
            </a:pPr>
            <a:r>
              <a:rPr lang="es" sz="1600">
                <a:solidFill>
                  <a:schemeClr val="lt1"/>
                </a:solidFill>
                <a:latin typeface="Open Sans Light"/>
                <a:ea typeface="Open Sans Light"/>
                <a:cs typeface="Open Sans Light"/>
                <a:sym typeface="Open Sans Light"/>
              </a:rPr>
              <a:t>Motivación y audiencia</a:t>
            </a:r>
            <a:endParaRPr sz="1600">
              <a:solidFill>
                <a:schemeClr val="lt1"/>
              </a:solidFill>
              <a:latin typeface="Open Sans Light"/>
              <a:ea typeface="Open Sans Light"/>
              <a:cs typeface="Open Sans Light"/>
              <a:sym typeface="Open Sans Light"/>
            </a:endParaRPr>
          </a:p>
          <a:p>
            <a:pPr indent="-330200" lvl="0" marL="457200" rtl="0" algn="l">
              <a:lnSpc>
                <a:spcPct val="140000"/>
              </a:lnSpc>
              <a:spcBef>
                <a:spcPts val="0"/>
              </a:spcBef>
              <a:spcAft>
                <a:spcPts val="0"/>
              </a:spcAft>
              <a:buClr>
                <a:schemeClr val="lt1"/>
              </a:buClr>
              <a:buSzPts val="1600"/>
              <a:buFont typeface="Open Sans Light"/>
              <a:buAutoNum type="arabicPeriod"/>
            </a:pPr>
            <a:r>
              <a:rPr lang="es" sz="1600">
                <a:solidFill>
                  <a:schemeClr val="lt1"/>
                </a:solidFill>
                <a:latin typeface="Open Sans Light"/>
                <a:ea typeface="Open Sans Light"/>
                <a:cs typeface="Open Sans Light"/>
                <a:sym typeface="Open Sans Light"/>
              </a:rPr>
              <a:t>Hipótesis y preguntas de interés</a:t>
            </a:r>
            <a:endParaRPr sz="1600">
              <a:solidFill>
                <a:schemeClr val="lt1"/>
              </a:solidFill>
              <a:latin typeface="Open Sans Light"/>
              <a:ea typeface="Open Sans Light"/>
              <a:cs typeface="Open Sans Light"/>
              <a:sym typeface="Open Sans Light"/>
            </a:endParaRPr>
          </a:p>
          <a:p>
            <a:pPr indent="-330200" lvl="0" marL="457200" rtl="0" algn="l">
              <a:lnSpc>
                <a:spcPct val="140000"/>
              </a:lnSpc>
              <a:spcBef>
                <a:spcPts val="0"/>
              </a:spcBef>
              <a:spcAft>
                <a:spcPts val="0"/>
              </a:spcAft>
              <a:buClr>
                <a:schemeClr val="lt1"/>
              </a:buClr>
              <a:buSzPts val="1600"/>
              <a:buFont typeface="Open Sans Light"/>
              <a:buAutoNum type="arabicPeriod"/>
            </a:pPr>
            <a:r>
              <a:rPr lang="es" sz="1600">
                <a:solidFill>
                  <a:schemeClr val="lt1"/>
                </a:solidFill>
                <a:latin typeface="Open Sans Light"/>
                <a:ea typeface="Open Sans Light"/>
                <a:cs typeface="Open Sans Light"/>
                <a:sym typeface="Open Sans Light"/>
              </a:rPr>
              <a:t>Resumen Metadata</a:t>
            </a:r>
            <a:endParaRPr sz="1600">
              <a:solidFill>
                <a:schemeClr val="lt1"/>
              </a:solidFill>
              <a:latin typeface="Open Sans Light"/>
              <a:ea typeface="Open Sans Light"/>
              <a:cs typeface="Open Sans Light"/>
              <a:sym typeface="Open Sans Light"/>
            </a:endParaRPr>
          </a:p>
          <a:p>
            <a:pPr indent="-330200" lvl="0" marL="457200" rtl="0" algn="l">
              <a:lnSpc>
                <a:spcPct val="140000"/>
              </a:lnSpc>
              <a:spcBef>
                <a:spcPts val="0"/>
              </a:spcBef>
              <a:spcAft>
                <a:spcPts val="0"/>
              </a:spcAft>
              <a:buClr>
                <a:schemeClr val="lt1"/>
              </a:buClr>
              <a:buSzPts val="1600"/>
              <a:buFont typeface="Open Sans Light"/>
              <a:buAutoNum type="arabicPeriod"/>
            </a:pPr>
            <a:r>
              <a:rPr lang="es" sz="1600">
                <a:solidFill>
                  <a:schemeClr val="lt1"/>
                </a:solidFill>
                <a:latin typeface="Open Sans Light"/>
                <a:ea typeface="Open Sans Light"/>
                <a:cs typeface="Open Sans Light"/>
                <a:sym typeface="Open Sans Light"/>
              </a:rPr>
              <a:t>Análisis Exploratorio de Datos</a:t>
            </a:r>
            <a:endParaRPr sz="1600">
              <a:solidFill>
                <a:schemeClr val="lt1"/>
              </a:solidFill>
              <a:latin typeface="Open Sans Light"/>
              <a:ea typeface="Open Sans Light"/>
              <a:cs typeface="Open Sans Light"/>
              <a:sym typeface="Open Sans Light"/>
            </a:endParaRPr>
          </a:p>
          <a:p>
            <a:pPr indent="-330200" lvl="0" marL="457200" rtl="0" algn="l">
              <a:lnSpc>
                <a:spcPct val="140000"/>
              </a:lnSpc>
              <a:spcBef>
                <a:spcPts val="0"/>
              </a:spcBef>
              <a:spcAft>
                <a:spcPts val="0"/>
              </a:spcAft>
              <a:buClr>
                <a:schemeClr val="lt1"/>
              </a:buClr>
              <a:buSzPts val="1600"/>
              <a:buFont typeface="Open Sans Light"/>
              <a:buAutoNum type="arabicPeriod"/>
            </a:pPr>
            <a:r>
              <a:rPr lang="es" sz="1600">
                <a:solidFill>
                  <a:schemeClr val="lt1"/>
                </a:solidFill>
                <a:latin typeface="Open Sans Light"/>
                <a:ea typeface="Open Sans Light"/>
                <a:cs typeface="Open Sans Light"/>
                <a:sym typeface="Open Sans Light"/>
              </a:rPr>
              <a:t>Insights</a:t>
            </a:r>
            <a:endParaRPr sz="1600">
              <a:solidFill>
                <a:schemeClr val="lt1"/>
              </a:solidFill>
              <a:latin typeface="Open Sans Light"/>
              <a:ea typeface="Open Sans Light"/>
              <a:cs typeface="Open Sans Light"/>
              <a:sym typeface="Open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311700" y="2732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020">
                <a:solidFill>
                  <a:schemeClr val="lt1"/>
                </a:solidFill>
                <a:latin typeface="Open Sans ExtraBold"/>
                <a:ea typeface="Open Sans ExtraBold"/>
                <a:cs typeface="Open Sans ExtraBold"/>
                <a:sym typeface="Open Sans ExtraBold"/>
              </a:rPr>
              <a:t>Motivación y Audiencia</a:t>
            </a:r>
            <a:endParaRPr sz="2020">
              <a:solidFill>
                <a:schemeClr val="lt1"/>
              </a:solidFill>
              <a:latin typeface="Open Sans ExtraBold"/>
              <a:ea typeface="Open Sans ExtraBold"/>
              <a:cs typeface="Open Sans ExtraBold"/>
              <a:sym typeface="Open Sans ExtraBold"/>
            </a:endParaRPr>
          </a:p>
        </p:txBody>
      </p:sp>
      <p:sp>
        <p:nvSpPr>
          <p:cNvPr id="69" name="Google Shape;69;p15"/>
          <p:cNvSpPr txBox="1"/>
          <p:nvPr>
            <p:ph idx="1" type="body"/>
          </p:nvPr>
        </p:nvSpPr>
        <p:spPr>
          <a:xfrm>
            <a:off x="311700" y="897750"/>
            <a:ext cx="8223600" cy="38331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852"/>
              <a:buFont typeface="Arial"/>
              <a:buNone/>
            </a:pPr>
            <a:r>
              <a:rPr b="1" lang="es" sz="1100">
                <a:solidFill>
                  <a:schemeClr val="lt1"/>
                </a:solidFill>
                <a:latin typeface="Open Sans"/>
                <a:ea typeface="Open Sans"/>
                <a:cs typeface="Open Sans"/>
                <a:sym typeface="Open Sans"/>
              </a:rPr>
              <a:t>¿Te has preguntado alguna vez qué factores impulsan realmente el éxito académico?🎓</a:t>
            </a:r>
            <a:r>
              <a:rPr lang="es" sz="1100">
                <a:solidFill>
                  <a:schemeClr val="lt1"/>
                </a:solidFill>
                <a:latin typeface="Open Sans Light"/>
                <a:ea typeface="Open Sans Light"/>
                <a:cs typeface="Open Sans Light"/>
                <a:sym typeface="Open Sans Light"/>
              </a:rPr>
              <a:t> </a:t>
            </a:r>
            <a:endParaRPr sz="1100">
              <a:solidFill>
                <a:schemeClr val="lt1"/>
              </a:solidFill>
              <a:latin typeface="Open Sans Light"/>
              <a:ea typeface="Open Sans Light"/>
              <a:cs typeface="Open Sans Light"/>
              <a:sym typeface="Open Sans Light"/>
            </a:endParaRPr>
          </a:p>
          <a:p>
            <a:pPr indent="0" lvl="0" marL="0" rtl="0" algn="just">
              <a:lnSpc>
                <a:spcPct val="100000"/>
              </a:lnSpc>
              <a:spcBef>
                <a:spcPts val="1200"/>
              </a:spcBef>
              <a:spcAft>
                <a:spcPts val="0"/>
              </a:spcAft>
              <a:buClr>
                <a:schemeClr val="dk1"/>
              </a:buClr>
              <a:buSzPts val="852"/>
              <a:buFont typeface="Arial"/>
              <a:buNone/>
            </a:pPr>
            <a:r>
              <a:rPr lang="es" sz="1100">
                <a:solidFill>
                  <a:schemeClr val="lt1"/>
                </a:solidFill>
                <a:latin typeface="Open Sans Light"/>
                <a:ea typeface="Open Sans Light"/>
                <a:cs typeface="Open Sans Light"/>
                <a:sym typeface="Open Sans Light"/>
              </a:rPr>
              <a:t>En un mundo donde la educación es fundamental, comprender cómo los hábitos y el estilo de vida afectan al rendimiento estudiantil es más importante que nunca. Esta presentación surge de la necesidad de explorar la complejidad de la vida de los estudiantes para identificar patrones y relaciones fundamentales en el rendimiento académico.</a:t>
            </a:r>
            <a:endParaRPr sz="1100">
              <a:solidFill>
                <a:schemeClr val="lt1"/>
              </a:solidFill>
              <a:latin typeface="Open Sans Light"/>
              <a:ea typeface="Open Sans Light"/>
              <a:cs typeface="Open Sans Light"/>
              <a:sym typeface="Open Sans Light"/>
            </a:endParaRPr>
          </a:p>
          <a:p>
            <a:pPr indent="0" lvl="0" marL="0" rtl="0" algn="just">
              <a:lnSpc>
                <a:spcPct val="100000"/>
              </a:lnSpc>
              <a:spcBef>
                <a:spcPts val="1200"/>
              </a:spcBef>
              <a:spcAft>
                <a:spcPts val="0"/>
              </a:spcAft>
              <a:buClr>
                <a:schemeClr val="dk1"/>
              </a:buClr>
              <a:buSzPts val="852"/>
              <a:buFont typeface="Arial"/>
              <a:buNone/>
            </a:pPr>
            <a:r>
              <a:t/>
            </a:r>
            <a:endParaRPr sz="1100">
              <a:solidFill>
                <a:schemeClr val="lt1"/>
              </a:solidFill>
              <a:latin typeface="Open Sans Light"/>
              <a:ea typeface="Open Sans Light"/>
              <a:cs typeface="Open Sans Light"/>
              <a:sym typeface="Open Sans Light"/>
            </a:endParaRPr>
          </a:p>
          <a:p>
            <a:pPr indent="0" lvl="0" marL="0" rtl="0" algn="just">
              <a:lnSpc>
                <a:spcPct val="100000"/>
              </a:lnSpc>
              <a:spcBef>
                <a:spcPts val="1200"/>
              </a:spcBef>
              <a:spcAft>
                <a:spcPts val="0"/>
              </a:spcAft>
              <a:buClr>
                <a:schemeClr val="dk1"/>
              </a:buClr>
              <a:buSzPts val="852"/>
              <a:buFont typeface="Arial"/>
              <a:buNone/>
            </a:pPr>
            <a:r>
              <a:rPr b="1" lang="es" sz="1100">
                <a:solidFill>
                  <a:schemeClr val="lt1"/>
                </a:solidFill>
                <a:latin typeface="Open Sans"/>
                <a:ea typeface="Open Sans"/>
                <a:cs typeface="Open Sans"/>
                <a:sym typeface="Open Sans"/>
              </a:rPr>
              <a:t>¿A quién va dirigida esta presentación?</a:t>
            </a:r>
            <a:endParaRPr b="1" sz="1100">
              <a:solidFill>
                <a:schemeClr val="lt1"/>
              </a:solidFill>
              <a:latin typeface="Open Sans"/>
              <a:ea typeface="Open Sans"/>
              <a:cs typeface="Open Sans"/>
              <a:sym typeface="Open Sans"/>
            </a:endParaRPr>
          </a:p>
          <a:p>
            <a:pPr indent="0" lvl="0" marL="0" rtl="0" algn="just">
              <a:lnSpc>
                <a:spcPct val="100000"/>
              </a:lnSpc>
              <a:spcBef>
                <a:spcPts val="1200"/>
              </a:spcBef>
              <a:spcAft>
                <a:spcPts val="0"/>
              </a:spcAft>
              <a:buSzPts val="852"/>
              <a:buNone/>
            </a:pPr>
            <a:r>
              <a:rPr lang="es" sz="1100">
                <a:solidFill>
                  <a:schemeClr val="lt1"/>
                </a:solidFill>
                <a:latin typeface="Open Sans Light"/>
                <a:ea typeface="Open Sans Light"/>
                <a:cs typeface="Open Sans Light"/>
                <a:sym typeface="Open Sans Light"/>
              </a:rPr>
              <a:t>Dado el carácter sintético del Dataset, ésta presentación va dirigida a:</a:t>
            </a:r>
            <a:endParaRPr sz="1100">
              <a:solidFill>
                <a:schemeClr val="lt1"/>
              </a:solidFill>
              <a:latin typeface="Open Sans Light"/>
              <a:ea typeface="Open Sans Light"/>
              <a:cs typeface="Open Sans Light"/>
              <a:sym typeface="Open Sans Light"/>
            </a:endParaRPr>
          </a:p>
          <a:p>
            <a:pPr indent="-298450" lvl="0" marL="457200" rtl="0" algn="just">
              <a:lnSpc>
                <a:spcPct val="100000"/>
              </a:lnSpc>
              <a:spcBef>
                <a:spcPts val="1200"/>
              </a:spcBef>
              <a:spcAft>
                <a:spcPts val="0"/>
              </a:spcAft>
              <a:buClr>
                <a:schemeClr val="lt1"/>
              </a:buClr>
              <a:buSzPts val="1100"/>
              <a:buFont typeface="Open Sans Light"/>
              <a:buChar char="●"/>
            </a:pPr>
            <a:r>
              <a:rPr lang="es" sz="1100">
                <a:solidFill>
                  <a:schemeClr val="lt1"/>
                </a:solidFill>
                <a:latin typeface="Open Sans Light"/>
                <a:ea typeface="Open Sans Light"/>
                <a:cs typeface="Open Sans Light"/>
                <a:sym typeface="Open Sans Light"/>
              </a:rPr>
              <a:t>📊</a:t>
            </a:r>
            <a:r>
              <a:rPr b="1" lang="es" sz="1100">
                <a:solidFill>
                  <a:schemeClr val="lt1"/>
                </a:solidFill>
                <a:latin typeface="Open Sans"/>
                <a:ea typeface="Open Sans"/>
                <a:cs typeface="Open Sans"/>
                <a:sym typeface="Open Sans"/>
              </a:rPr>
              <a:t>Investigadores y analistas de datos</a:t>
            </a:r>
            <a:r>
              <a:rPr lang="es" sz="1100">
                <a:solidFill>
                  <a:schemeClr val="lt1"/>
                </a:solidFill>
                <a:latin typeface="Open Sans Light"/>
                <a:ea typeface="Open Sans Light"/>
                <a:cs typeface="Open Sans Light"/>
                <a:sym typeface="Open Sans Light"/>
              </a:rPr>
              <a:t>📊 interesados en la aplicación de modelos de regresión</a:t>
            </a:r>
            <a:r>
              <a:rPr lang="es" sz="1100">
                <a:solidFill>
                  <a:schemeClr val="lt1"/>
                </a:solidFill>
                <a:latin typeface="Open Sans Light"/>
                <a:ea typeface="Open Sans Light"/>
                <a:cs typeface="Open Sans Light"/>
                <a:sym typeface="Open Sans Light"/>
              </a:rPr>
              <a:t> </a:t>
            </a:r>
            <a:r>
              <a:rPr lang="es" sz="1100">
                <a:solidFill>
                  <a:schemeClr val="lt1"/>
                </a:solidFill>
                <a:latin typeface="Open Sans Light"/>
                <a:ea typeface="Open Sans Light"/>
                <a:cs typeface="Open Sans Light"/>
                <a:sym typeface="Open Sans Light"/>
              </a:rPr>
              <a:t>para comprender fenómenos complejos en el ámbito educativo.</a:t>
            </a:r>
            <a:endParaRPr sz="1100">
              <a:solidFill>
                <a:schemeClr val="lt1"/>
              </a:solidFill>
              <a:latin typeface="Open Sans Light"/>
              <a:ea typeface="Open Sans Light"/>
              <a:cs typeface="Open Sans Light"/>
              <a:sym typeface="Open Sans Light"/>
            </a:endParaRPr>
          </a:p>
          <a:p>
            <a:pPr indent="-298450" lvl="0" marL="457200" rtl="0" algn="just">
              <a:lnSpc>
                <a:spcPct val="100000"/>
              </a:lnSpc>
              <a:spcBef>
                <a:spcPts val="0"/>
              </a:spcBef>
              <a:spcAft>
                <a:spcPts val="0"/>
              </a:spcAft>
              <a:buClr>
                <a:schemeClr val="lt1"/>
              </a:buClr>
              <a:buSzPts val="1100"/>
              <a:buFont typeface="Open Sans Light"/>
              <a:buChar char="●"/>
            </a:pPr>
            <a:r>
              <a:rPr lang="es" sz="1100">
                <a:solidFill>
                  <a:schemeClr val="lt1"/>
                </a:solidFill>
                <a:latin typeface="Open Sans Light"/>
                <a:ea typeface="Open Sans Light"/>
                <a:cs typeface="Open Sans Light"/>
                <a:sym typeface="Open Sans Light"/>
              </a:rPr>
              <a:t>🔬</a:t>
            </a:r>
            <a:r>
              <a:rPr b="1" lang="es" sz="1100">
                <a:solidFill>
                  <a:schemeClr val="lt1"/>
                </a:solidFill>
                <a:latin typeface="Open Sans"/>
                <a:ea typeface="Open Sans"/>
                <a:cs typeface="Open Sans"/>
                <a:sym typeface="Open Sans"/>
              </a:rPr>
              <a:t>Cualquier persona curiosa</a:t>
            </a:r>
            <a:r>
              <a:rPr lang="es" sz="1100">
                <a:solidFill>
                  <a:schemeClr val="lt1"/>
                </a:solidFill>
                <a:latin typeface="Open Sans Light"/>
                <a:ea typeface="Open Sans Light"/>
                <a:cs typeface="Open Sans Light"/>
                <a:sym typeface="Open Sans Light"/>
              </a:rPr>
              <a:t>🔬 sobre el poder del análisis de datos para desentrañar los secretos del rendimiento y el bienestar estudiantil.</a:t>
            </a:r>
            <a:endParaRPr sz="1100">
              <a:solidFill>
                <a:schemeClr val="lt1"/>
              </a:solidFill>
              <a:latin typeface="Open Sans Light"/>
              <a:ea typeface="Open Sans Light"/>
              <a:cs typeface="Open Sans Light"/>
              <a:sym typeface="Open Sans Light"/>
            </a:endParaRPr>
          </a:p>
          <a:p>
            <a:pPr indent="0" lvl="0" marL="0" rtl="0" algn="just">
              <a:lnSpc>
                <a:spcPct val="100000"/>
              </a:lnSpc>
              <a:spcBef>
                <a:spcPts val="1200"/>
              </a:spcBef>
              <a:spcAft>
                <a:spcPts val="1200"/>
              </a:spcAft>
              <a:buNone/>
            </a:pPr>
            <a:r>
              <a:rPr lang="es" sz="1100">
                <a:solidFill>
                  <a:schemeClr val="lt1"/>
                </a:solidFill>
                <a:latin typeface="Open Sans Light"/>
                <a:ea typeface="Open Sans Light"/>
                <a:cs typeface="Open Sans Light"/>
                <a:sym typeface="Open Sans Light"/>
              </a:rPr>
              <a:t>Te invito a explorar cómo una vida saludable, el uso de la tecnología, el entorno de apoyo y el bienestar mental se entrelazan para moldear el futuro académico los estudiantes. </a:t>
            </a:r>
            <a:endParaRPr sz="1330">
              <a:solidFill>
                <a:schemeClr val="lt1"/>
              </a:solidFill>
              <a:latin typeface="Open Sans Light"/>
              <a:ea typeface="Open Sans Light"/>
              <a:cs typeface="Open Sans Light"/>
              <a:sym typeface="Open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4566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020">
                <a:solidFill>
                  <a:schemeClr val="lt1"/>
                </a:solidFill>
                <a:latin typeface="Open Sans ExtraBold"/>
                <a:ea typeface="Open Sans ExtraBold"/>
                <a:cs typeface="Open Sans ExtraBold"/>
                <a:sym typeface="Open Sans ExtraBold"/>
              </a:rPr>
              <a:t>Hipótesis</a:t>
            </a:r>
            <a:r>
              <a:rPr lang="es" sz="2020">
                <a:solidFill>
                  <a:schemeClr val="lt1"/>
                </a:solidFill>
                <a:latin typeface="Open Sans ExtraBold"/>
                <a:ea typeface="Open Sans ExtraBold"/>
                <a:cs typeface="Open Sans ExtraBold"/>
                <a:sym typeface="Open Sans ExtraBold"/>
              </a:rPr>
              <a:t> y preguntas de interés </a:t>
            </a:r>
            <a:endParaRPr sz="2020">
              <a:solidFill>
                <a:schemeClr val="lt1"/>
              </a:solidFill>
              <a:latin typeface="Open Sans ExtraBold"/>
              <a:ea typeface="Open Sans ExtraBold"/>
              <a:cs typeface="Open Sans ExtraBold"/>
              <a:sym typeface="Open Sans ExtraBold"/>
            </a:endParaRPr>
          </a:p>
        </p:txBody>
      </p:sp>
      <p:sp>
        <p:nvSpPr>
          <p:cNvPr id="75" name="Google Shape;75;p16"/>
          <p:cNvSpPr txBox="1"/>
          <p:nvPr>
            <p:ph idx="1" type="body"/>
          </p:nvPr>
        </p:nvSpPr>
        <p:spPr>
          <a:xfrm>
            <a:off x="311700" y="1152475"/>
            <a:ext cx="48291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Clr>
                <a:schemeClr val="dk1"/>
              </a:buClr>
              <a:buSzPts val="1100"/>
              <a:buFont typeface="Arial"/>
              <a:buNone/>
            </a:pPr>
            <a:r>
              <a:rPr b="1" lang="es" sz="1100">
                <a:solidFill>
                  <a:schemeClr val="lt1"/>
                </a:solidFill>
                <a:latin typeface="Open Sans"/>
                <a:ea typeface="Open Sans"/>
                <a:cs typeface="Open Sans"/>
                <a:sym typeface="Open Sans"/>
              </a:rPr>
              <a:t>Pregunta principal:</a:t>
            </a:r>
            <a:endParaRPr b="1" sz="1100">
              <a:solidFill>
                <a:schemeClr val="lt1"/>
              </a:solidFill>
              <a:latin typeface="Open Sans"/>
              <a:ea typeface="Open Sans"/>
              <a:cs typeface="Open Sans"/>
              <a:sym typeface="Open Sans"/>
            </a:endParaRPr>
          </a:p>
          <a:p>
            <a:pPr indent="-298450" lvl="0" marL="457200" rtl="0" algn="l">
              <a:lnSpc>
                <a:spcPct val="100000"/>
              </a:lnSpc>
              <a:spcBef>
                <a:spcPts val="1200"/>
              </a:spcBef>
              <a:spcAft>
                <a:spcPts val="0"/>
              </a:spcAft>
              <a:buClr>
                <a:schemeClr val="lt1"/>
              </a:buClr>
              <a:buSzPts val="1100"/>
              <a:buFont typeface="Open Sans Light"/>
              <a:buChar char="➔"/>
            </a:pPr>
            <a:r>
              <a:rPr lang="es" sz="1100">
                <a:solidFill>
                  <a:schemeClr val="lt1"/>
                </a:solidFill>
                <a:latin typeface="Open Sans Light"/>
                <a:ea typeface="Open Sans Light"/>
                <a:cs typeface="Open Sans Light"/>
                <a:sym typeface="Open Sans Light"/>
              </a:rPr>
              <a:t>¿Qué impacto tienen los </a:t>
            </a:r>
            <a:r>
              <a:rPr b="1" lang="es" sz="1100">
                <a:solidFill>
                  <a:schemeClr val="lt1"/>
                </a:solidFill>
                <a:latin typeface="Open Sans"/>
                <a:ea typeface="Open Sans"/>
                <a:cs typeface="Open Sans"/>
                <a:sym typeface="Open Sans"/>
              </a:rPr>
              <a:t>hábitos/estilo de vida</a:t>
            </a:r>
            <a:r>
              <a:rPr lang="es" sz="1100">
                <a:solidFill>
                  <a:schemeClr val="lt1"/>
                </a:solidFill>
                <a:latin typeface="Open Sans Light"/>
                <a:ea typeface="Open Sans Light"/>
                <a:cs typeface="Open Sans Light"/>
                <a:sym typeface="Open Sans Light"/>
              </a:rPr>
              <a:t> en el resultado académico de los estudiantes</a:t>
            </a:r>
            <a:r>
              <a:rPr lang="es" sz="1100">
                <a:solidFill>
                  <a:schemeClr val="lt1"/>
                </a:solidFill>
                <a:latin typeface="Open Sans ExtraBold"/>
                <a:ea typeface="Open Sans ExtraBold"/>
                <a:cs typeface="Open Sans ExtraBold"/>
                <a:sym typeface="Open Sans ExtraBold"/>
              </a:rPr>
              <a:t>👩‍🎓</a:t>
            </a:r>
            <a:r>
              <a:rPr lang="es" sz="1100">
                <a:solidFill>
                  <a:schemeClr val="lt1"/>
                </a:solidFill>
                <a:latin typeface="Open Sans Light"/>
                <a:ea typeface="Open Sans Light"/>
                <a:cs typeface="Open Sans Light"/>
                <a:sym typeface="Open Sans Light"/>
              </a:rPr>
              <a:t>?</a:t>
            </a:r>
            <a:endParaRPr sz="1100">
              <a:solidFill>
                <a:schemeClr val="lt1"/>
              </a:solidFill>
              <a:latin typeface="Open Sans Light"/>
              <a:ea typeface="Open Sans Light"/>
              <a:cs typeface="Open Sans Light"/>
              <a:sym typeface="Open Sans Light"/>
            </a:endParaRPr>
          </a:p>
          <a:p>
            <a:pPr indent="0" lvl="0" marL="0" rtl="0" algn="l">
              <a:lnSpc>
                <a:spcPct val="100000"/>
              </a:lnSpc>
              <a:spcBef>
                <a:spcPts val="1200"/>
              </a:spcBef>
              <a:spcAft>
                <a:spcPts val="0"/>
              </a:spcAft>
              <a:buNone/>
            </a:pPr>
            <a:r>
              <a:rPr b="1" lang="es" sz="1100">
                <a:solidFill>
                  <a:schemeClr val="lt1"/>
                </a:solidFill>
                <a:latin typeface="Open Sans"/>
                <a:ea typeface="Open Sans"/>
                <a:cs typeface="Open Sans"/>
                <a:sym typeface="Open Sans"/>
              </a:rPr>
              <a:t>Preguntas secundarias:</a:t>
            </a:r>
            <a:endParaRPr b="1" sz="1100">
              <a:solidFill>
                <a:schemeClr val="lt1"/>
              </a:solidFill>
              <a:latin typeface="Open Sans"/>
              <a:ea typeface="Open Sans"/>
              <a:cs typeface="Open Sans"/>
              <a:sym typeface="Open Sans"/>
            </a:endParaRPr>
          </a:p>
          <a:p>
            <a:pPr indent="-298450" lvl="0" marL="457200" rtl="0" algn="l">
              <a:lnSpc>
                <a:spcPct val="100000"/>
              </a:lnSpc>
              <a:spcBef>
                <a:spcPts val="1200"/>
              </a:spcBef>
              <a:spcAft>
                <a:spcPts val="0"/>
              </a:spcAft>
              <a:buClr>
                <a:schemeClr val="lt1"/>
              </a:buClr>
              <a:buSzPts val="1100"/>
              <a:buFont typeface="Open Sans Light"/>
              <a:buChar char="➔"/>
            </a:pPr>
            <a:r>
              <a:rPr lang="es" sz="1100">
                <a:solidFill>
                  <a:schemeClr val="lt1"/>
                </a:solidFill>
                <a:latin typeface="Open Sans Light"/>
                <a:ea typeface="Open Sans Light"/>
                <a:cs typeface="Open Sans Light"/>
                <a:sym typeface="Open Sans Light"/>
              </a:rPr>
              <a:t>¿Cómo se relaciona una </a:t>
            </a:r>
            <a:r>
              <a:rPr lang="es" sz="1100">
                <a:solidFill>
                  <a:schemeClr val="lt1"/>
                </a:solidFill>
                <a:latin typeface="Open Sans"/>
                <a:ea typeface="Open Sans"/>
                <a:cs typeface="Open Sans"/>
                <a:sym typeface="Open Sans"/>
              </a:rPr>
              <a:t>🥬💪</a:t>
            </a:r>
            <a:r>
              <a:rPr b="1" lang="es" sz="1100">
                <a:solidFill>
                  <a:schemeClr val="lt1"/>
                </a:solidFill>
                <a:latin typeface="Open Sans"/>
                <a:ea typeface="Open Sans"/>
                <a:cs typeface="Open Sans"/>
                <a:sym typeface="Open Sans"/>
              </a:rPr>
              <a:t>vida saludable</a:t>
            </a:r>
            <a:r>
              <a:rPr lang="es" sz="1100">
                <a:solidFill>
                  <a:schemeClr val="lt1"/>
                </a:solidFill>
                <a:latin typeface="Open Sans"/>
                <a:ea typeface="Open Sans"/>
                <a:cs typeface="Open Sans"/>
                <a:sym typeface="Open Sans"/>
              </a:rPr>
              <a:t>💪🥬</a:t>
            </a:r>
            <a:r>
              <a:rPr lang="es" sz="1100">
                <a:solidFill>
                  <a:schemeClr val="lt1"/>
                </a:solidFill>
                <a:latin typeface="Open Sans Light"/>
                <a:ea typeface="Open Sans Light"/>
                <a:cs typeface="Open Sans Light"/>
                <a:sym typeface="Open Sans Light"/>
              </a:rPr>
              <a:t> (buena alimentación, ejercicio, sueño) con el éxito en los estudios?</a:t>
            </a:r>
            <a:endParaRPr sz="1100">
              <a:solidFill>
                <a:schemeClr val="lt1"/>
              </a:solidFill>
              <a:latin typeface="Open Sans Light"/>
              <a:ea typeface="Open Sans Light"/>
              <a:cs typeface="Open Sans Light"/>
              <a:sym typeface="Open Sans Light"/>
            </a:endParaRPr>
          </a:p>
          <a:p>
            <a:pPr indent="-298450" lvl="0" marL="457200" rtl="0" algn="l">
              <a:lnSpc>
                <a:spcPct val="100000"/>
              </a:lnSpc>
              <a:spcBef>
                <a:spcPts val="0"/>
              </a:spcBef>
              <a:spcAft>
                <a:spcPts val="0"/>
              </a:spcAft>
              <a:buClr>
                <a:schemeClr val="lt1"/>
              </a:buClr>
              <a:buSzPts val="1100"/>
              <a:buFont typeface="Open Sans Light"/>
              <a:buChar char="➔"/>
            </a:pPr>
            <a:r>
              <a:rPr lang="es" sz="1100">
                <a:solidFill>
                  <a:schemeClr val="lt1"/>
                </a:solidFill>
                <a:latin typeface="Open Sans Light"/>
                <a:ea typeface="Open Sans Light"/>
                <a:cs typeface="Open Sans Light"/>
                <a:sym typeface="Open Sans Light"/>
              </a:rPr>
              <a:t>¿Cómo afecta el tiempo dedicado a las </a:t>
            </a:r>
            <a:r>
              <a:rPr b="1" lang="es" sz="1100">
                <a:solidFill>
                  <a:schemeClr val="lt1"/>
                </a:solidFill>
                <a:latin typeface="Open Sans"/>
                <a:ea typeface="Open Sans"/>
                <a:cs typeface="Open Sans"/>
                <a:sym typeface="Open Sans"/>
              </a:rPr>
              <a:t>📱</a:t>
            </a:r>
            <a:r>
              <a:rPr b="1" lang="es" sz="1100">
                <a:solidFill>
                  <a:schemeClr val="lt1"/>
                </a:solidFill>
                <a:latin typeface="Open Sans"/>
                <a:ea typeface="Open Sans"/>
                <a:cs typeface="Open Sans"/>
                <a:sym typeface="Open Sans"/>
              </a:rPr>
              <a:t>redes sociales</a:t>
            </a:r>
            <a:r>
              <a:rPr lang="es" sz="1100">
                <a:solidFill>
                  <a:schemeClr val="lt1"/>
                </a:solidFill>
                <a:latin typeface="Open Sans Light"/>
                <a:ea typeface="Open Sans Light"/>
                <a:cs typeface="Open Sans Light"/>
                <a:sym typeface="Open Sans Light"/>
              </a:rPr>
              <a:t> y  </a:t>
            </a:r>
            <a:r>
              <a:rPr b="1" lang="es" sz="1100">
                <a:solidFill>
                  <a:schemeClr val="lt1"/>
                </a:solidFill>
                <a:latin typeface="Open Sans"/>
                <a:ea typeface="Open Sans"/>
                <a:cs typeface="Open Sans"/>
                <a:sym typeface="Open Sans"/>
              </a:rPr>
              <a:t>netflix</a:t>
            </a:r>
            <a:r>
              <a:rPr b="1" lang="es" sz="1100">
                <a:solidFill>
                  <a:schemeClr val="lt1"/>
                </a:solidFill>
                <a:latin typeface="Open Sans"/>
                <a:ea typeface="Open Sans"/>
                <a:cs typeface="Open Sans"/>
                <a:sym typeface="Open Sans"/>
              </a:rPr>
              <a:t>📱</a:t>
            </a:r>
            <a:r>
              <a:rPr lang="es" sz="1100">
                <a:solidFill>
                  <a:schemeClr val="lt1"/>
                </a:solidFill>
                <a:latin typeface="Open Sans Light"/>
                <a:ea typeface="Open Sans Light"/>
                <a:cs typeface="Open Sans Light"/>
                <a:sym typeface="Open Sans Light"/>
              </a:rPr>
              <a:t> en el resultado académico? ¿Es importante tener buen </a:t>
            </a:r>
            <a:r>
              <a:rPr b="1" lang="es" sz="1100">
                <a:solidFill>
                  <a:schemeClr val="lt1"/>
                </a:solidFill>
                <a:latin typeface="Open Sans"/>
                <a:ea typeface="Open Sans"/>
                <a:cs typeface="Open Sans"/>
                <a:sym typeface="Open Sans"/>
              </a:rPr>
              <a:t>acceso a internet</a:t>
            </a:r>
            <a:r>
              <a:rPr lang="es" sz="1100">
                <a:solidFill>
                  <a:schemeClr val="lt1"/>
                </a:solidFill>
                <a:latin typeface="Open Sans Light"/>
                <a:ea typeface="Open Sans Light"/>
                <a:cs typeface="Open Sans Light"/>
                <a:sym typeface="Open Sans Light"/>
              </a:rPr>
              <a:t> para tener buenas notas?</a:t>
            </a:r>
            <a:endParaRPr sz="1100">
              <a:solidFill>
                <a:schemeClr val="lt1"/>
              </a:solidFill>
              <a:latin typeface="Open Sans Light"/>
              <a:ea typeface="Open Sans Light"/>
              <a:cs typeface="Open Sans Light"/>
              <a:sym typeface="Open Sans Light"/>
            </a:endParaRPr>
          </a:p>
          <a:p>
            <a:pPr indent="-298450" lvl="0" marL="457200" rtl="0" algn="l">
              <a:lnSpc>
                <a:spcPct val="100000"/>
              </a:lnSpc>
              <a:spcBef>
                <a:spcPts val="0"/>
              </a:spcBef>
              <a:spcAft>
                <a:spcPts val="0"/>
              </a:spcAft>
              <a:buClr>
                <a:schemeClr val="lt1"/>
              </a:buClr>
              <a:buSzPts val="1100"/>
              <a:buFont typeface="Open Sans Light"/>
              <a:buChar char="➔"/>
            </a:pPr>
            <a:r>
              <a:rPr lang="es" sz="1100">
                <a:solidFill>
                  <a:schemeClr val="lt1"/>
                </a:solidFill>
                <a:latin typeface="Open Sans Light"/>
                <a:ea typeface="Open Sans Light"/>
                <a:cs typeface="Open Sans Light"/>
                <a:sym typeface="Open Sans Light"/>
              </a:rPr>
              <a:t>¿Cuál es el 🎯</a:t>
            </a:r>
            <a:r>
              <a:rPr b="1" lang="es" sz="1100">
                <a:solidFill>
                  <a:schemeClr val="lt1"/>
                </a:solidFill>
                <a:latin typeface="Open Sans"/>
                <a:ea typeface="Open Sans"/>
                <a:cs typeface="Open Sans"/>
                <a:sym typeface="Open Sans"/>
              </a:rPr>
              <a:t>hábito más determinante 🎯</a:t>
            </a:r>
            <a:r>
              <a:rPr lang="es" sz="1100">
                <a:solidFill>
                  <a:schemeClr val="lt1"/>
                </a:solidFill>
                <a:latin typeface="Open Sans Light"/>
                <a:ea typeface="Open Sans Light"/>
                <a:cs typeface="Open Sans Light"/>
                <a:sym typeface="Open Sans Light"/>
              </a:rPr>
              <a:t>para el éxito académico?</a:t>
            </a:r>
            <a:endParaRPr sz="1100"/>
          </a:p>
        </p:txBody>
      </p:sp>
      <p:pic>
        <p:nvPicPr>
          <p:cNvPr descr="University students studying in armchairs (proporcionado por Getty Images)" id="76" name="Google Shape;76;p16"/>
          <p:cNvPicPr preferRelativeResize="0"/>
          <p:nvPr/>
        </p:nvPicPr>
        <p:blipFill>
          <a:blip r:embed="rId3">
            <a:alphaModFix/>
          </a:blip>
          <a:stretch>
            <a:fillRect/>
          </a:stretch>
        </p:blipFill>
        <p:spPr>
          <a:xfrm>
            <a:off x="5640496" y="0"/>
            <a:ext cx="3503508"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020">
                <a:solidFill>
                  <a:schemeClr val="lt1"/>
                </a:solidFill>
                <a:latin typeface="Open Sans ExtraBold"/>
                <a:ea typeface="Open Sans ExtraBold"/>
                <a:cs typeface="Open Sans ExtraBold"/>
                <a:sym typeface="Open Sans ExtraBold"/>
              </a:rPr>
              <a:t>📊Resumen Metadata 📊</a:t>
            </a:r>
            <a:endParaRPr sz="2020">
              <a:solidFill>
                <a:schemeClr val="lt1"/>
              </a:solidFill>
              <a:latin typeface="Open Sans ExtraBold"/>
              <a:ea typeface="Open Sans ExtraBold"/>
              <a:cs typeface="Open Sans ExtraBold"/>
              <a:sym typeface="Open Sans ExtraBold"/>
            </a:endParaRPr>
          </a:p>
        </p:txBody>
      </p:sp>
      <p:sp>
        <p:nvSpPr>
          <p:cNvPr id="82" name="Google Shape;82;p17"/>
          <p:cNvSpPr txBox="1"/>
          <p:nvPr>
            <p:ph idx="1" type="body"/>
          </p:nvPr>
        </p:nvSpPr>
        <p:spPr>
          <a:xfrm>
            <a:off x="311700" y="1017725"/>
            <a:ext cx="3465300" cy="1895100"/>
          </a:xfrm>
          <a:prstGeom prst="rect">
            <a:avLst/>
          </a:prstGeom>
        </p:spPr>
        <p:txBody>
          <a:bodyPr anchorCtr="0" anchor="t" bIns="91425" lIns="91425" spcFirstLastPara="1" rIns="91425" wrap="square" tIns="91425">
            <a:normAutofit fontScale="25000"/>
          </a:bodyPr>
          <a:lstStyle/>
          <a:p>
            <a:pPr indent="0" lvl="0" marL="0" rtl="0" algn="just">
              <a:lnSpc>
                <a:spcPct val="100000"/>
              </a:lnSpc>
              <a:spcBef>
                <a:spcPts val="0"/>
              </a:spcBef>
              <a:spcAft>
                <a:spcPts val="0"/>
              </a:spcAft>
              <a:buNone/>
            </a:pPr>
            <a:r>
              <a:rPr lang="es" sz="4400">
                <a:solidFill>
                  <a:schemeClr val="lt1"/>
                </a:solidFill>
                <a:latin typeface="Open Sans Light"/>
                <a:ea typeface="Open Sans Light"/>
                <a:cs typeface="Open Sans Light"/>
                <a:sym typeface="Open Sans Light"/>
              </a:rPr>
              <a:t>A partir del </a:t>
            </a:r>
            <a:r>
              <a:rPr lang="es" sz="4400" u="sng">
                <a:solidFill>
                  <a:schemeClr val="lt1"/>
                </a:solidFill>
                <a:latin typeface="Open Sans Light"/>
                <a:ea typeface="Open Sans Light"/>
                <a:cs typeface="Open Sans Light"/>
                <a:sym typeface="Open Sans Light"/>
                <a:hlinkClick r:id="rId3">
                  <a:extLst>
                    <a:ext uri="{A12FA001-AC4F-418D-AE19-62706E023703}">
                      <ahyp:hlinkClr val="tx"/>
                    </a:ext>
                  </a:extLst>
                </a:hlinkClick>
              </a:rPr>
              <a:t>Dataset</a:t>
            </a:r>
            <a:r>
              <a:rPr lang="es" sz="4400">
                <a:solidFill>
                  <a:schemeClr val="lt1"/>
                </a:solidFill>
                <a:latin typeface="Open Sans Light"/>
                <a:ea typeface="Open Sans Light"/>
                <a:cs typeface="Open Sans Light"/>
                <a:sym typeface="Open Sans Light"/>
              </a:rPr>
              <a:t> obtenido en Kaggle se exploran y analizan 1000 registros sintéticos de estudiantes que contienen información sobre sus hábitos durante el cursado de una materia, y el consecuente resultado del exámen final. </a:t>
            </a:r>
            <a:endParaRPr sz="4400">
              <a:solidFill>
                <a:schemeClr val="lt1"/>
              </a:solidFill>
              <a:latin typeface="Open Sans Light"/>
              <a:ea typeface="Open Sans Light"/>
              <a:cs typeface="Open Sans Light"/>
              <a:sym typeface="Open Sans Light"/>
            </a:endParaRPr>
          </a:p>
          <a:p>
            <a:pPr indent="0" lvl="0" marL="0" rtl="0" algn="just">
              <a:lnSpc>
                <a:spcPct val="100000"/>
              </a:lnSpc>
              <a:spcBef>
                <a:spcPts val="1200"/>
              </a:spcBef>
              <a:spcAft>
                <a:spcPts val="1200"/>
              </a:spcAft>
              <a:buNone/>
            </a:pPr>
            <a:r>
              <a:rPr lang="es" sz="4400">
                <a:solidFill>
                  <a:schemeClr val="lt1"/>
                </a:solidFill>
                <a:latin typeface="Open Sans Light"/>
                <a:ea typeface="Open Sans Light"/>
                <a:cs typeface="Open Sans Light"/>
                <a:sym typeface="Open Sans Light"/>
              </a:rPr>
              <a:t>También</a:t>
            </a:r>
            <a:r>
              <a:rPr lang="es" sz="4400">
                <a:solidFill>
                  <a:schemeClr val="lt1"/>
                </a:solidFill>
                <a:latin typeface="Open Sans Light"/>
                <a:ea typeface="Open Sans Light"/>
                <a:cs typeface="Open Sans Light"/>
                <a:sym typeface="Open Sans Light"/>
              </a:rPr>
              <a:t> se obtienen datos a través de la API pública del Banco Mundial simulando que los estudiantes provienen de distintos países con diferentes niveles socioeconómicos.</a:t>
            </a:r>
            <a:endParaRPr sz="600"/>
          </a:p>
        </p:txBody>
      </p:sp>
      <p:sp>
        <p:nvSpPr>
          <p:cNvPr id="83" name="Google Shape;83;p17"/>
          <p:cNvSpPr txBox="1"/>
          <p:nvPr/>
        </p:nvSpPr>
        <p:spPr>
          <a:xfrm>
            <a:off x="406350" y="2823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84" name="Google Shape;84;p17"/>
          <p:cNvPicPr preferRelativeResize="0"/>
          <p:nvPr/>
        </p:nvPicPr>
        <p:blipFill>
          <a:blip r:embed="rId4">
            <a:alphaModFix/>
          </a:blip>
          <a:stretch>
            <a:fillRect/>
          </a:stretch>
        </p:blipFill>
        <p:spPr>
          <a:xfrm>
            <a:off x="3983025" y="1084325"/>
            <a:ext cx="4945500" cy="3443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311700" y="241000"/>
            <a:ext cx="8520600" cy="572700"/>
          </a:xfrm>
          <a:prstGeom prst="rect">
            <a:avLst/>
          </a:prstGeom>
        </p:spPr>
        <p:txBody>
          <a:bodyPr anchorCtr="0" anchor="t" bIns="91425" lIns="91425" spcFirstLastPara="1" rIns="91425" wrap="square" tIns="91425">
            <a:noAutofit/>
          </a:bodyPr>
          <a:lstStyle/>
          <a:p>
            <a:pPr indent="0" lvl="0" marL="0" rtl="0" algn="ctr">
              <a:spcBef>
                <a:spcPts val="1200"/>
              </a:spcBef>
              <a:spcAft>
                <a:spcPts val="1200"/>
              </a:spcAft>
              <a:buNone/>
            </a:pPr>
            <a:r>
              <a:rPr lang="es" sz="1400">
                <a:solidFill>
                  <a:schemeClr val="lt1"/>
                </a:solidFill>
                <a:latin typeface="Open Sans Light"/>
                <a:ea typeface="Open Sans Light"/>
                <a:cs typeface="Open Sans Light"/>
                <a:sym typeface="Open Sans Light"/>
              </a:rPr>
              <a:t>¿Cómo se relaciona una </a:t>
            </a:r>
            <a:r>
              <a:rPr lang="es" sz="1400">
                <a:solidFill>
                  <a:schemeClr val="lt1"/>
                </a:solidFill>
                <a:latin typeface="Open Sans"/>
                <a:ea typeface="Open Sans"/>
                <a:cs typeface="Open Sans"/>
                <a:sym typeface="Open Sans"/>
              </a:rPr>
              <a:t>🥬💪</a:t>
            </a:r>
            <a:r>
              <a:rPr b="1" lang="es" sz="1400">
                <a:solidFill>
                  <a:schemeClr val="lt1"/>
                </a:solidFill>
                <a:latin typeface="Open Sans"/>
                <a:ea typeface="Open Sans"/>
                <a:cs typeface="Open Sans"/>
                <a:sym typeface="Open Sans"/>
              </a:rPr>
              <a:t>vida saludable</a:t>
            </a:r>
            <a:r>
              <a:rPr lang="es" sz="1400">
                <a:solidFill>
                  <a:schemeClr val="lt1"/>
                </a:solidFill>
                <a:latin typeface="Open Sans"/>
                <a:ea typeface="Open Sans"/>
                <a:cs typeface="Open Sans"/>
                <a:sym typeface="Open Sans"/>
              </a:rPr>
              <a:t>💪🥬</a:t>
            </a:r>
            <a:r>
              <a:rPr lang="es" sz="1400">
                <a:solidFill>
                  <a:schemeClr val="lt1"/>
                </a:solidFill>
                <a:latin typeface="Open Sans Light"/>
                <a:ea typeface="Open Sans Light"/>
                <a:cs typeface="Open Sans Light"/>
                <a:sym typeface="Open Sans Light"/>
              </a:rPr>
              <a:t> con el éxito en los estudios?</a:t>
            </a:r>
            <a:endParaRPr sz="2000">
              <a:solidFill>
                <a:schemeClr val="lt1"/>
              </a:solidFill>
              <a:latin typeface="Open Sans ExtraBold"/>
              <a:ea typeface="Open Sans ExtraBold"/>
              <a:cs typeface="Open Sans ExtraBold"/>
              <a:sym typeface="Open Sans ExtraBold"/>
            </a:endParaRPr>
          </a:p>
        </p:txBody>
      </p:sp>
      <p:sp>
        <p:nvSpPr>
          <p:cNvPr id="90" name="Google Shape;90;p18"/>
          <p:cNvSpPr txBox="1"/>
          <p:nvPr/>
        </p:nvSpPr>
        <p:spPr>
          <a:xfrm>
            <a:off x="5605450" y="1864925"/>
            <a:ext cx="355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91" name="Google Shape;91;p18" title="newplot(2).png"/>
          <p:cNvPicPr preferRelativeResize="0"/>
          <p:nvPr/>
        </p:nvPicPr>
        <p:blipFill>
          <a:blip r:embed="rId3">
            <a:alphaModFix/>
          </a:blip>
          <a:stretch>
            <a:fillRect/>
          </a:stretch>
        </p:blipFill>
        <p:spPr>
          <a:xfrm>
            <a:off x="3375900" y="856475"/>
            <a:ext cx="2827850" cy="1841200"/>
          </a:xfrm>
          <a:prstGeom prst="rect">
            <a:avLst/>
          </a:prstGeom>
          <a:noFill/>
          <a:ln>
            <a:noFill/>
          </a:ln>
        </p:spPr>
      </p:pic>
      <p:sp>
        <p:nvSpPr>
          <p:cNvPr id="92" name="Google Shape;92;p18"/>
          <p:cNvSpPr txBox="1"/>
          <p:nvPr/>
        </p:nvSpPr>
        <p:spPr>
          <a:xfrm>
            <a:off x="311725" y="2919550"/>
            <a:ext cx="2827800" cy="1223100"/>
          </a:xfrm>
          <a:prstGeom prst="rect">
            <a:avLst/>
          </a:prstGeom>
          <a:noFill/>
          <a:ln>
            <a:noFill/>
          </a:ln>
        </p:spPr>
        <p:txBody>
          <a:bodyPr anchorCtr="0" anchor="t" bIns="91425" lIns="91425" spcFirstLastPara="1" rIns="91425" wrap="square" tIns="91425">
            <a:noAutofit/>
          </a:bodyPr>
          <a:lstStyle/>
          <a:p>
            <a:pPr indent="0" lvl="0" marL="0" rtl="0" algn="just">
              <a:lnSpc>
                <a:spcPct val="135714"/>
              </a:lnSpc>
              <a:spcBef>
                <a:spcPts val="0"/>
              </a:spcBef>
              <a:spcAft>
                <a:spcPts val="0"/>
              </a:spcAft>
              <a:buClr>
                <a:schemeClr val="dk1"/>
              </a:buClr>
              <a:buSzPts val="1100"/>
              <a:buFont typeface="Arial"/>
              <a:buNone/>
            </a:pPr>
            <a:r>
              <a:rPr lang="es" sz="1100">
                <a:solidFill>
                  <a:schemeClr val="lt1"/>
                </a:solidFill>
                <a:latin typeface="Open Sans Light"/>
                <a:ea typeface="Open Sans Light"/>
                <a:cs typeface="Open Sans Light"/>
                <a:sym typeface="Open Sans Light"/>
              </a:rPr>
              <a:t>Los alumnos que siguen una dieta sana</a:t>
            </a:r>
            <a:r>
              <a:rPr lang="es" sz="1100">
                <a:solidFill>
                  <a:schemeClr val="lt1"/>
                </a:solidFill>
                <a:latin typeface="Open Sans"/>
                <a:ea typeface="Open Sans"/>
                <a:cs typeface="Open Sans"/>
                <a:sym typeface="Open Sans"/>
              </a:rPr>
              <a:t>🥬🥩 </a:t>
            </a:r>
            <a:r>
              <a:rPr lang="es" sz="1100">
                <a:solidFill>
                  <a:schemeClr val="lt1"/>
                </a:solidFill>
                <a:latin typeface="Open Sans Light"/>
                <a:ea typeface="Open Sans Light"/>
                <a:cs typeface="Open Sans Light"/>
                <a:sym typeface="Open Sans Light"/>
              </a:rPr>
              <a:t>o equilibrada obtienen resultados ligeramente mejores que los alumnos que se alimentan con una dieta pobre 🍭🍕.</a:t>
            </a:r>
            <a:endParaRPr sz="1100">
              <a:solidFill>
                <a:srgbClr val="D4D4D4"/>
              </a:solidFill>
              <a:highlight>
                <a:srgbClr val="1E1E1E"/>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93" name="Google Shape;93;p18"/>
          <p:cNvSpPr txBox="1"/>
          <p:nvPr/>
        </p:nvSpPr>
        <p:spPr>
          <a:xfrm>
            <a:off x="3426475" y="2869900"/>
            <a:ext cx="2726700" cy="1568400"/>
          </a:xfrm>
          <a:prstGeom prst="rect">
            <a:avLst/>
          </a:prstGeom>
          <a:noFill/>
          <a:ln>
            <a:noFill/>
          </a:ln>
        </p:spPr>
        <p:txBody>
          <a:bodyPr anchorCtr="0" anchor="t" bIns="91425" lIns="91425" spcFirstLastPara="1" rIns="91425" wrap="square" tIns="91425">
            <a:noAutofit/>
          </a:bodyPr>
          <a:lstStyle/>
          <a:p>
            <a:pPr indent="0" lvl="0" marL="0" rtl="0" algn="just">
              <a:lnSpc>
                <a:spcPct val="135714"/>
              </a:lnSpc>
              <a:spcBef>
                <a:spcPts val="0"/>
              </a:spcBef>
              <a:spcAft>
                <a:spcPts val="0"/>
              </a:spcAft>
              <a:buNone/>
            </a:pPr>
            <a:r>
              <a:rPr lang="es" sz="1100">
                <a:solidFill>
                  <a:schemeClr val="lt1"/>
                </a:solidFill>
                <a:latin typeface="Open Sans Light"/>
                <a:ea typeface="Open Sans Light"/>
                <a:cs typeface="Open Sans Light"/>
                <a:sym typeface="Open Sans Light"/>
              </a:rPr>
              <a:t>Los alumnos que hacen ejercicio físico🏃 dos o más veces por semana obtienen mejores resultados siendo los que entrenan 5 o 6 veces por semana los que mejores notas </a:t>
            </a:r>
            <a:r>
              <a:rPr lang="es" sz="1100">
                <a:solidFill>
                  <a:schemeClr val="lt1"/>
                </a:solidFill>
                <a:latin typeface="Open Sans Light"/>
                <a:ea typeface="Open Sans Light"/>
                <a:cs typeface="Open Sans Light"/>
                <a:sym typeface="Open Sans Light"/>
              </a:rPr>
              <a:t>obtienen.</a:t>
            </a:r>
            <a:endParaRPr sz="1800">
              <a:solidFill>
                <a:schemeClr val="dk2"/>
              </a:solidFill>
            </a:endParaRPr>
          </a:p>
        </p:txBody>
      </p:sp>
      <p:pic>
        <p:nvPicPr>
          <p:cNvPr id="94" name="Google Shape;94;p18" title="newplot(1).png"/>
          <p:cNvPicPr preferRelativeResize="0"/>
          <p:nvPr/>
        </p:nvPicPr>
        <p:blipFill>
          <a:blip r:embed="rId4">
            <a:alphaModFix/>
          </a:blip>
          <a:stretch>
            <a:fillRect/>
          </a:stretch>
        </p:blipFill>
        <p:spPr>
          <a:xfrm>
            <a:off x="6440100" y="856475"/>
            <a:ext cx="2392199" cy="1841200"/>
          </a:xfrm>
          <a:prstGeom prst="rect">
            <a:avLst/>
          </a:prstGeom>
          <a:noFill/>
          <a:ln>
            <a:noFill/>
          </a:ln>
        </p:spPr>
      </p:pic>
      <p:sp>
        <p:nvSpPr>
          <p:cNvPr id="95" name="Google Shape;95;p18"/>
          <p:cNvSpPr txBox="1"/>
          <p:nvPr/>
        </p:nvSpPr>
        <p:spPr>
          <a:xfrm>
            <a:off x="6440100" y="2919550"/>
            <a:ext cx="2330400" cy="951600"/>
          </a:xfrm>
          <a:prstGeom prst="rect">
            <a:avLst/>
          </a:prstGeom>
          <a:noFill/>
          <a:ln>
            <a:noFill/>
          </a:ln>
        </p:spPr>
        <p:txBody>
          <a:bodyPr anchorCtr="0" anchor="t" bIns="91425" lIns="91425" spcFirstLastPara="1" rIns="91425" wrap="square" tIns="91425">
            <a:noAutofit/>
          </a:bodyPr>
          <a:lstStyle/>
          <a:p>
            <a:pPr indent="0" lvl="0" marL="0" rtl="0" algn="just">
              <a:lnSpc>
                <a:spcPct val="135714"/>
              </a:lnSpc>
              <a:spcBef>
                <a:spcPts val="0"/>
              </a:spcBef>
              <a:spcAft>
                <a:spcPts val="0"/>
              </a:spcAft>
              <a:buClr>
                <a:schemeClr val="dk1"/>
              </a:buClr>
              <a:buSzPts val="1100"/>
              <a:buFont typeface="Arial"/>
              <a:buNone/>
            </a:pPr>
            <a:r>
              <a:rPr lang="es" sz="1100">
                <a:solidFill>
                  <a:schemeClr val="lt1"/>
                </a:solidFill>
                <a:latin typeface="Open Sans Light"/>
                <a:ea typeface="Open Sans Light"/>
                <a:cs typeface="Open Sans Light"/>
                <a:sym typeface="Open Sans Light"/>
              </a:rPr>
              <a:t>La correlación entre el resultado del examen y las horas de sueño💤 es escasamente positiva.</a:t>
            </a:r>
            <a:endParaRPr sz="1050">
              <a:solidFill>
                <a:srgbClr val="D4D4D4"/>
              </a:solidFill>
              <a:highlight>
                <a:srgbClr val="1E1E1E"/>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96" name="Google Shape;96;p18"/>
          <p:cNvSpPr txBox="1"/>
          <p:nvPr/>
        </p:nvSpPr>
        <p:spPr>
          <a:xfrm>
            <a:off x="472650" y="4249625"/>
            <a:ext cx="80307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s" sz="1100">
                <a:solidFill>
                  <a:schemeClr val="lt1"/>
                </a:solidFill>
                <a:latin typeface="Open Sans"/>
                <a:ea typeface="Open Sans"/>
                <a:cs typeface="Open Sans"/>
                <a:sym typeface="Open Sans"/>
              </a:rPr>
              <a:t>A partir de las visualizaciones, se podría decir que llevar una vida saludable tiene un impacto ligeramente positivo📈en el rendimiento académico.</a:t>
            </a:r>
            <a:endParaRPr b="1" sz="1050">
              <a:solidFill>
                <a:srgbClr val="D4D4D4"/>
              </a:solidFill>
              <a:highlight>
                <a:srgbClr val="1E1E1E"/>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pic>
        <p:nvPicPr>
          <p:cNvPr id="97" name="Google Shape;97;p18" title="newplot(7).png"/>
          <p:cNvPicPr preferRelativeResize="0"/>
          <p:nvPr/>
        </p:nvPicPr>
        <p:blipFill>
          <a:blip r:embed="rId5">
            <a:alphaModFix/>
          </a:blip>
          <a:stretch>
            <a:fillRect/>
          </a:stretch>
        </p:blipFill>
        <p:spPr>
          <a:xfrm>
            <a:off x="257850" y="876550"/>
            <a:ext cx="2881680" cy="1801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230675"/>
            <a:ext cx="8520600" cy="8214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None/>
            </a:pPr>
            <a:r>
              <a:rPr lang="es" sz="1400">
                <a:solidFill>
                  <a:schemeClr val="lt1"/>
                </a:solidFill>
                <a:latin typeface="Open Sans Light"/>
                <a:ea typeface="Open Sans Light"/>
                <a:cs typeface="Open Sans Light"/>
                <a:sym typeface="Open Sans Light"/>
              </a:rPr>
              <a:t>¿Cómo afecta el tiempo dedicado a las 📱redes sociales y  netflix📱 en el resultado académico? </a:t>
            </a:r>
            <a:endParaRPr sz="1400">
              <a:solidFill>
                <a:schemeClr val="lt1"/>
              </a:solidFill>
              <a:latin typeface="Open Sans Light"/>
              <a:ea typeface="Open Sans Light"/>
              <a:cs typeface="Open Sans Light"/>
              <a:sym typeface="Open Sans Light"/>
            </a:endParaRPr>
          </a:p>
          <a:p>
            <a:pPr indent="0" lvl="0" marL="0" rtl="0" algn="ctr">
              <a:spcBef>
                <a:spcPts val="1200"/>
              </a:spcBef>
              <a:spcAft>
                <a:spcPts val="1200"/>
              </a:spcAft>
              <a:buNone/>
            </a:pPr>
            <a:r>
              <a:rPr lang="es" sz="1400">
                <a:solidFill>
                  <a:schemeClr val="lt1"/>
                </a:solidFill>
                <a:latin typeface="Open Sans Light"/>
                <a:ea typeface="Open Sans Light"/>
                <a:cs typeface="Open Sans Light"/>
                <a:sym typeface="Open Sans Light"/>
              </a:rPr>
              <a:t>¿Es importante tener buen acceso a internet para tener buenas notas?</a:t>
            </a:r>
            <a:endParaRPr sz="1700"/>
          </a:p>
        </p:txBody>
      </p:sp>
      <p:pic>
        <p:nvPicPr>
          <p:cNvPr id="103" name="Google Shape;103;p19" title="newplot(3).png"/>
          <p:cNvPicPr preferRelativeResize="0"/>
          <p:nvPr/>
        </p:nvPicPr>
        <p:blipFill>
          <a:blip r:embed="rId3">
            <a:alphaModFix/>
          </a:blip>
          <a:stretch>
            <a:fillRect/>
          </a:stretch>
        </p:blipFill>
        <p:spPr>
          <a:xfrm>
            <a:off x="4669035" y="1161725"/>
            <a:ext cx="3406590" cy="2307200"/>
          </a:xfrm>
          <a:prstGeom prst="rect">
            <a:avLst/>
          </a:prstGeom>
          <a:noFill/>
          <a:ln>
            <a:noFill/>
          </a:ln>
        </p:spPr>
      </p:pic>
      <p:pic>
        <p:nvPicPr>
          <p:cNvPr id="104" name="Google Shape;104;p19"/>
          <p:cNvPicPr preferRelativeResize="0"/>
          <p:nvPr/>
        </p:nvPicPr>
        <p:blipFill>
          <a:blip r:embed="rId4">
            <a:alphaModFix/>
          </a:blip>
          <a:stretch>
            <a:fillRect/>
          </a:stretch>
        </p:blipFill>
        <p:spPr>
          <a:xfrm>
            <a:off x="905150" y="1161725"/>
            <a:ext cx="3230099" cy="2307200"/>
          </a:xfrm>
          <a:prstGeom prst="rect">
            <a:avLst/>
          </a:prstGeom>
          <a:noFill/>
          <a:ln>
            <a:noFill/>
          </a:ln>
        </p:spPr>
      </p:pic>
      <p:sp>
        <p:nvSpPr>
          <p:cNvPr id="105" name="Google Shape;105;p19"/>
          <p:cNvSpPr txBox="1"/>
          <p:nvPr/>
        </p:nvSpPr>
        <p:spPr>
          <a:xfrm>
            <a:off x="718550" y="3716750"/>
            <a:ext cx="3603300" cy="1035300"/>
          </a:xfrm>
          <a:prstGeom prst="rect">
            <a:avLst/>
          </a:prstGeom>
          <a:noFill/>
          <a:ln>
            <a:noFill/>
          </a:ln>
        </p:spPr>
        <p:txBody>
          <a:bodyPr anchorCtr="0" anchor="t" bIns="91425" lIns="91425" spcFirstLastPara="1" rIns="91425" wrap="square" tIns="91425">
            <a:noAutofit/>
          </a:bodyPr>
          <a:lstStyle/>
          <a:p>
            <a:pPr indent="0" lvl="0" marL="0" rtl="0" algn="just">
              <a:lnSpc>
                <a:spcPct val="135714"/>
              </a:lnSpc>
              <a:spcBef>
                <a:spcPts val="0"/>
              </a:spcBef>
              <a:spcAft>
                <a:spcPts val="0"/>
              </a:spcAft>
              <a:buClr>
                <a:schemeClr val="dk1"/>
              </a:buClr>
              <a:buSzPts val="1100"/>
              <a:buFont typeface="Arial"/>
              <a:buNone/>
            </a:pPr>
            <a:r>
              <a:rPr lang="es" sz="1100">
                <a:solidFill>
                  <a:schemeClr val="lt1"/>
                </a:solidFill>
                <a:latin typeface="Open Sans Light"/>
                <a:ea typeface="Open Sans Light"/>
                <a:cs typeface="Open Sans Light"/>
                <a:sym typeface="Open Sans Light"/>
              </a:rPr>
              <a:t>El tiempo dedicado a las redes sociales como el tiempo de uso de la plataforma Netflix tienen una correlación levemente negativa📉 con la nota del examen.</a:t>
            </a:r>
            <a:endParaRPr sz="1100">
              <a:solidFill>
                <a:schemeClr val="lt1"/>
              </a:solidFill>
              <a:latin typeface="Open Sans Light"/>
              <a:ea typeface="Open Sans Light"/>
              <a:cs typeface="Open Sans Light"/>
              <a:sym typeface="Open Sans Light"/>
            </a:endParaRPr>
          </a:p>
        </p:txBody>
      </p:sp>
      <p:sp>
        <p:nvSpPr>
          <p:cNvPr id="106" name="Google Shape;106;p19"/>
          <p:cNvSpPr txBox="1"/>
          <p:nvPr/>
        </p:nvSpPr>
        <p:spPr>
          <a:xfrm>
            <a:off x="4571988" y="3694400"/>
            <a:ext cx="3800100" cy="866100"/>
          </a:xfrm>
          <a:prstGeom prst="rect">
            <a:avLst/>
          </a:prstGeom>
          <a:noFill/>
          <a:ln>
            <a:noFill/>
          </a:ln>
        </p:spPr>
        <p:txBody>
          <a:bodyPr anchorCtr="0" anchor="t" bIns="91425" lIns="91425" spcFirstLastPara="1" rIns="91425" wrap="square" tIns="91425">
            <a:noAutofit/>
          </a:bodyPr>
          <a:lstStyle/>
          <a:p>
            <a:pPr indent="0" lvl="0" marL="0" rtl="0" algn="just">
              <a:lnSpc>
                <a:spcPct val="135714"/>
              </a:lnSpc>
              <a:spcBef>
                <a:spcPts val="0"/>
              </a:spcBef>
              <a:spcAft>
                <a:spcPts val="0"/>
              </a:spcAft>
              <a:buClr>
                <a:schemeClr val="dk1"/>
              </a:buClr>
              <a:buSzPts val="1100"/>
              <a:buFont typeface="Arial"/>
              <a:buNone/>
            </a:pPr>
            <a:r>
              <a:rPr lang="es" sz="1100">
                <a:solidFill>
                  <a:schemeClr val="lt1"/>
                </a:solidFill>
                <a:latin typeface="Open Sans Light"/>
                <a:ea typeface="Open Sans Light"/>
                <a:cs typeface="Open Sans Light"/>
                <a:sym typeface="Open Sans Light"/>
              </a:rPr>
              <a:t>Los alumnos que cuentan con un acceso a internet🛜 promedio muestran mejores resultados académicos.</a:t>
            </a:r>
            <a:endParaRPr sz="1100">
              <a:solidFill>
                <a:schemeClr val="lt1"/>
              </a:solidFill>
              <a:latin typeface="Open Sans Light"/>
              <a:ea typeface="Open Sans Light"/>
              <a:cs typeface="Open Sans Light"/>
              <a:sym typeface="Open Sans Light"/>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None/>
            </a:pPr>
            <a:r>
              <a:rPr lang="es" sz="1700">
                <a:solidFill>
                  <a:schemeClr val="lt1"/>
                </a:solidFill>
                <a:latin typeface="Open Sans Light"/>
                <a:ea typeface="Open Sans Light"/>
                <a:cs typeface="Open Sans Light"/>
                <a:sym typeface="Open Sans Light"/>
              </a:rPr>
              <a:t>¿Cuál es el </a:t>
            </a:r>
            <a:r>
              <a:rPr b="1" lang="es" sz="1700">
                <a:solidFill>
                  <a:schemeClr val="lt1"/>
                </a:solidFill>
                <a:latin typeface="Open Sans"/>
                <a:ea typeface="Open Sans"/>
                <a:cs typeface="Open Sans"/>
                <a:sym typeface="Open Sans"/>
              </a:rPr>
              <a:t>hábito más determinante </a:t>
            </a:r>
            <a:r>
              <a:rPr lang="es" sz="1700">
                <a:solidFill>
                  <a:schemeClr val="lt1"/>
                </a:solidFill>
                <a:latin typeface="Open Sans Light"/>
                <a:ea typeface="Open Sans Light"/>
                <a:cs typeface="Open Sans Light"/>
                <a:sym typeface="Open Sans Light"/>
              </a:rPr>
              <a:t>para el éxito académico</a:t>
            </a:r>
            <a:r>
              <a:rPr b="1" lang="es" sz="1100">
                <a:solidFill>
                  <a:schemeClr val="lt1"/>
                </a:solidFill>
                <a:latin typeface="Open Sans"/>
                <a:ea typeface="Open Sans"/>
                <a:cs typeface="Open Sans"/>
                <a:sym typeface="Open Sans"/>
              </a:rPr>
              <a:t>📈</a:t>
            </a:r>
            <a:r>
              <a:rPr lang="es" sz="1700">
                <a:solidFill>
                  <a:schemeClr val="lt1"/>
                </a:solidFill>
                <a:latin typeface="Open Sans Light"/>
                <a:ea typeface="Open Sans Light"/>
                <a:cs typeface="Open Sans Light"/>
                <a:sym typeface="Open Sans Light"/>
              </a:rPr>
              <a:t>?</a:t>
            </a:r>
            <a:endParaRPr sz="3100"/>
          </a:p>
        </p:txBody>
      </p:sp>
      <p:pic>
        <p:nvPicPr>
          <p:cNvPr id="112" name="Google Shape;112;p20" title="newplot(5).png"/>
          <p:cNvPicPr preferRelativeResize="0"/>
          <p:nvPr/>
        </p:nvPicPr>
        <p:blipFill>
          <a:blip r:embed="rId3">
            <a:alphaModFix/>
          </a:blip>
          <a:stretch>
            <a:fillRect/>
          </a:stretch>
        </p:blipFill>
        <p:spPr>
          <a:xfrm>
            <a:off x="1243150" y="1157625"/>
            <a:ext cx="2900238" cy="2537700"/>
          </a:xfrm>
          <a:prstGeom prst="rect">
            <a:avLst/>
          </a:prstGeom>
          <a:noFill/>
          <a:ln>
            <a:noFill/>
          </a:ln>
        </p:spPr>
      </p:pic>
      <p:pic>
        <p:nvPicPr>
          <p:cNvPr id="113" name="Google Shape;113;p20"/>
          <p:cNvPicPr preferRelativeResize="0"/>
          <p:nvPr/>
        </p:nvPicPr>
        <p:blipFill>
          <a:blip r:embed="rId4">
            <a:alphaModFix/>
          </a:blip>
          <a:stretch>
            <a:fillRect/>
          </a:stretch>
        </p:blipFill>
        <p:spPr>
          <a:xfrm>
            <a:off x="4429550" y="1157625"/>
            <a:ext cx="3410825" cy="2537700"/>
          </a:xfrm>
          <a:prstGeom prst="rect">
            <a:avLst/>
          </a:prstGeom>
          <a:noFill/>
          <a:ln>
            <a:noFill/>
          </a:ln>
        </p:spPr>
      </p:pic>
      <p:sp>
        <p:nvSpPr>
          <p:cNvPr id="114" name="Google Shape;114;p20"/>
          <p:cNvSpPr txBox="1"/>
          <p:nvPr/>
        </p:nvSpPr>
        <p:spPr>
          <a:xfrm>
            <a:off x="1246350" y="3992900"/>
            <a:ext cx="6651300" cy="727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100">
                <a:solidFill>
                  <a:schemeClr val="lt1"/>
                </a:solidFill>
                <a:latin typeface="Open Sans Light"/>
                <a:ea typeface="Open Sans Light"/>
                <a:cs typeface="Open Sans Light"/>
                <a:sym typeface="Open Sans Light"/>
              </a:rPr>
              <a:t>Definitivamente los hábitos de estudio</a:t>
            </a:r>
            <a:r>
              <a:rPr lang="es" sz="1100">
                <a:solidFill>
                  <a:schemeClr val="lt1"/>
                </a:solidFill>
                <a:latin typeface="Open Sans"/>
                <a:ea typeface="Open Sans"/>
                <a:cs typeface="Open Sans"/>
                <a:sym typeface="Open Sans"/>
              </a:rPr>
              <a:t>📖</a:t>
            </a:r>
            <a:r>
              <a:rPr lang="es" sz="1100">
                <a:solidFill>
                  <a:schemeClr val="lt1"/>
                </a:solidFill>
                <a:latin typeface="Open Sans Light"/>
                <a:ea typeface="Open Sans Light"/>
                <a:cs typeface="Open Sans Light"/>
                <a:sym typeface="Open Sans Light"/>
              </a:rPr>
              <a:t> (horas de estudio al día) resultan </a:t>
            </a:r>
            <a:r>
              <a:rPr b="1" lang="es" sz="1100">
                <a:solidFill>
                  <a:schemeClr val="lt1"/>
                </a:solidFill>
                <a:latin typeface="Open Sans"/>
                <a:ea typeface="Open Sans"/>
                <a:cs typeface="Open Sans"/>
                <a:sym typeface="Open Sans"/>
              </a:rPr>
              <a:t>determinantes</a:t>
            </a:r>
            <a:r>
              <a:rPr lang="es" sz="1100">
                <a:solidFill>
                  <a:schemeClr val="lt1"/>
                </a:solidFill>
                <a:latin typeface="Open Sans Light"/>
                <a:ea typeface="Open Sans Light"/>
                <a:cs typeface="Open Sans Light"/>
                <a:sym typeface="Open Sans Light"/>
              </a:rPr>
              <a:t> para el éxito académico (mejores notas), con una </a:t>
            </a:r>
            <a:r>
              <a:rPr b="1" lang="es" sz="1100">
                <a:solidFill>
                  <a:schemeClr val="lt1"/>
                </a:solidFill>
                <a:latin typeface="Open Sans"/>
                <a:ea typeface="Open Sans"/>
                <a:cs typeface="Open Sans"/>
                <a:sym typeface="Open Sans"/>
              </a:rPr>
              <a:t>correlación positiva de 0,83</a:t>
            </a:r>
            <a:r>
              <a:rPr b="1" lang="es" sz="1100">
                <a:solidFill>
                  <a:schemeClr val="lt1"/>
                </a:solidFill>
                <a:latin typeface="Open Sans"/>
                <a:ea typeface="Open Sans"/>
                <a:cs typeface="Open Sans"/>
                <a:sym typeface="Open Sans"/>
              </a:rPr>
              <a:t>📈</a:t>
            </a:r>
            <a:r>
              <a:rPr b="1" lang="es" sz="1100">
                <a:solidFill>
                  <a:schemeClr val="lt1"/>
                </a:solidFill>
                <a:latin typeface="Open Sans"/>
                <a:ea typeface="Open Sans"/>
                <a:cs typeface="Open Sans"/>
                <a:sym typeface="Open Sans"/>
              </a:rPr>
              <a:t>.</a:t>
            </a:r>
            <a:endParaRPr b="1" sz="1050">
              <a:solidFill>
                <a:srgbClr val="D4D4D4"/>
              </a:solidFill>
              <a:highlight>
                <a:srgbClr val="1E1E1E"/>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020">
                <a:solidFill>
                  <a:schemeClr val="lt1"/>
                </a:solidFill>
                <a:latin typeface="Open Sans ExtraBold"/>
                <a:ea typeface="Open Sans ExtraBold"/>
                <a:cs typeface="Open Sans ExtraBold"/>
                <a:sym typeface="Open Sans ExtraBold"/>
              </a:rPr>
              <a:t>Insights</a:t>
            </a:r>
            <a:endParaRPr sz="2420">
              <a:solidFill>
                <a:schemeClr val="lt1"/>
              </a:solidFill>
              <a:latin typeface="Open Sans ExtraBold"/>
              <a:ea typeface="Open Sans ExtraBold"/>
              <a:cs typeface="Open Sans ExtraBold"/>
              <a:sym typeface="Open Sans ExtraBold"/>
            </a:endParaRPr>
          </a:p>
        </p:txBody>
      </p:sp>
      <p:sp>
        <p:nvSpPr>
          <p:cNvPr id="120" name="Google Shape;120;p21"/>
          <p:cNvSpPr txBox="1"/>
          <p:nvPr>
            <p:ph idx="1" type="body"/>
          </p:nvPr>
        </p:nvSpPr>
        <p:spPr>
          <a:xfrm>
            <a:off x="216900" y="959975"/>
            <a:ext cx="8615400" cy="3792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s" sz="1200">
                <a:solidFill>
                  <a:schemeClr val="lt1"/>
                </a:solidFill>
                <a:latin typeface="Open Sans Light"/>
                <a:ea typeface="Open Sans Light"/>
                <a:cs typeface="Open Sans Light"/>
                <a:sym typeface="Open Sans Light"/>
              </a:rPr>
              <a:t>Hemos llegado al final de nuestra exploración sobre el impacto de los hábitos en el rendimiento académico. A través del análisis de este dataset  hemos podido desentrañar algunas relaciones clave que nos permiten comprender mejor qué impulsa el éxito estudiantil.</a:t>
            </a:r>
            <a:endParaRPr sz="1200">
              <a:solidFill>
                <a:schemeClr val="lt1"/>
              </a:solidFill>
              <a:latin typeface="Open Sans Light"/>
              <a:ea typeface="Open Sans Light"/>
              <a:cs typeface="Open Sans Light"/>
              <a:sym typeface="Open Sans Light"/>
            </a:endParaRPr>
          </a:p>
          <a:p>
            <a:pPr indent="0" lvl="0" marL="0" rtl="0" algn="l">
              <a:spcBef>
                <a:spcPts val="1200"/>
              </a:spcBef>
              <a:spcAft>
                <a:spcPts val="0"/>
              </a:spcAft>
              <a:buClr>
                <a:schemeClr val="dk1"/>
              </a:buClr>
              <a:buSzPts val="1100"/>
              <a:buFont typeface="Arial"/>
              <a:buNone/>
            </a:pPr>
            <a:r>
              <a:rPr lang="es" sz="1200">
                <a:solidFill>
                  <a:schemeClr val="lt1"/>
                </a:solidFill>
                <a:latin typeface="Open Sans Light"/>
                <a:ea typeface="Open Sans Light"/>
                <a:cs typeface="Open Sans Light"/>
                <a:sym typeface="Open Sans Light"/>
              </a:rPr>
              <a:t>Hemos observado que, si bien una vida saludable (alimentación, ejercicio y sueño) tiene un impacto positivo, aunque ligeramente, en el rendimiento, no es el factor más determinante. De manera similar, el tiempo dedicado a las redes sociales y plataformas de entretenimiento muestra una correlación levemente negativa, sugiriendo que el equilibrio es clave. También destacamos que un acceso a internet promedio se asoció con mejores resultados, lo que subraya la importancia de la infraestructura digital sin caer en el exceso.</a:t>
            </a:r>
            <a:endParaRPr sz="1200">
              <a:solidFill>
                <a:schemeClr val="lt1"/>
              </a:solidFill>
              <a:latin typeface="Open Sans Light"/>
              <a:ea typeface="Open Sans Light"/>
              <a:cs typeface="Open Sans Light"/>
              <a:sym typeface="Open Sans Light"/>
            </a:endParaRPr>
          </a:p>
          <a:p>
            <a:pPr indent="0" lvl="0" marL="0" rtl="0" algn="l">
              <a:spcBef>
                <a:spcPts val="1200"/>
              </a:spcBef>
              <a:spcAft>
                <a:spcPts val="0"/>
              </a:spcAft>
              <a:buClr>
                <a:schemeClr val="dk1"/>
              </a:buClr>
              <a:buSzPts val="1100"/>
              <a:buFont typeface="Arial"/>
              <a:buNone/>
            </a:pPr>
            <a:r>
              <a:rPr lang="es" sz="1200">
                <a:solidFill>
                  <a:schemeClr val="lt1"/>
                </a:solidFill>
                <a:latin typeface="Open Sans Light"/>
                <a:ea typeface="Open Sans Light"/>
                <a:cs typeface="Open Sans Light"/>
                <a:sym typeface="Open Sans Light"/>
              </a:rPr>
              <a:t>Sin embargo, el hallazgo más contundente de nuestra investigación es que los hábitos de estudio son, con gran diferencia, el predictor más significativo del éxito académico.</a:t>
            </a:r>
            <a:endParaRPr sz="1200">
              <a:solidFill>
                <a:schemeClr val="lt1"/>
              </a:solidFill>
              <a:latin typeface="Open Sans Light"/>
              <a:ea typeface="Open Sans Light"/>
              <a:cs typeface="Open Sans Light"/>
              <a:sym typeface="Open Sans Light"/>
            </a:endParaRPr>
          </a:p>
          <a:p>
            <a:pPr indent="0" lvl="0" marL="0" rtl="0" algn="l">
              <a:spcBef>
                <a:spcPts val="1200"/>
              </a:spcBef>
              <a:spcAft>
                <a:spcPts val="0"/>
              </a:spcAft>
              <a:buClr>
                <a:schemeClr val="dk1"/>
              </a:buClr>
              <a:buSzPts val="1100"/>
              <a:buFont typeface="Arial"/>
              <a:buNone/>
            </a:pPr>
            <a:r>
              <a:rPr lang="es" sz="1200">
                <a:solidFill>
                  <a:schemeClr val="lt1"/>
                </a:solidFill>
                <a:latin typeface="Open Sans Light"/>
                <a:ea typeface="Open Sans Light"/>
                <a:cs typeface="Open Sans Light"/>
                <a:sym typeface="Open Sans Light"/>
              </a:rPr>
              <a:t>En resumen, si bien un estilo de vida equilibrado contribuye al bienestar general del estudiante, es la disciplina y la constancia en el estudio lo que marca la verdadera diferencia en el aula. Espero que esta presentación haya brindado información valiosa tanto para investigadores de datos como para cualquier persona interesada en comprender mejor los complejos factores que dan forma al futuro académico de los estudiantes.</a:t>
            </a:r>
            <a:endParaRPr sz="1200">
              <a:solidFill>
                <a:schemeClr val="lt1"/>
              </a:solidFill>
              <a:latin typeface="Open Sans Light"/>
              <a:ea typeface="Open Sans Light"/>
              <a:cs typeface="Open Sans Light"/>
              <a:sym typeface="Open Sans Light"/>
            </a:endParaRPr>
          </a:p>
          <a:p>
            <a:pPr indent="0" lvl="0" marL="0" rtl="0" algn="l">
              <a:lnSpc>
                <a:spcPct val="95000"/>
              </a:lnSpc>
              <a:spcBef>
                <a:spcPts val="1200"/>
              </a:spcBef>
              <a:spcAft>
                <a:spcPts val="1200"/>
              </a:spcAft>
              <a:buSzPts val="935"/>
              <a:buNone/>
            </a:pPr>
            <a:r>
              <a:t/>
            </a:r>
            <a:endParaRPr sz="1530"/>
          </a:p>
        </p:txBody>
      </p:sp>
      <p:pic>
        <p:nvPicPr>
          <p:cNvPr descr="Woman is studying financial business documents at her desk (proporcionado por Getty Images)" id="121" name="Google Shape;121;p21"/>
          <p:cNvPicPr preferRelativeResize="0"/>
          <p:nvPr/>
        </p:nvPicPr>
        <p:blipFill rotWithShape="1">
          <a:blip r:embed="rId3">
            <a:alphaModFix amt="30000"/>
          </a:blip>
          <a:srcRect b="0" l="0" r="0" t="0"/>
          <a:stretch/>
        </p:blipFill>
        <p:spPr>
          <a:xfrm>
            <a:off x="0" y="0"/>
            <a:ext cx="9144003"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